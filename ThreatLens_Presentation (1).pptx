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440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ThreatLens and the team. Screenshot is the real Operational Overview of the implemented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unstructured threat data, manual effort, limited explainability. ThreatLens aims to reduce repetitive investigation and improve consistency; it supports analysts, it does not replace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input methods feed one pipeline. Walk through each stage left to right, then the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stacked layers. External intelligence (e.g. CISA KEV) is a separate, on-demand connection, not continuously 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supported indicator types, the refang/defang idea, and that uploaded files are only text-extracted, never executed. Examples use reserved domains and documentation 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TF-IDF with unigrams and bigrams feeds two linear models. Confidence is never a guarantee; ambiguous cases are flagged for analyst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 are example heuristics, not measured values. Mappings are evidence-based correlations needing analyst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 are measured values from the implemented Model Evaluation screen. The test set is small (per-class support 1-2), so results are indicative, not a final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cases are demonstration scenarios. The History screenshot shows real saved investigations. Controls reduce specific risks; they do not prove production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implemented contributions from future work. Close with the final statement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4114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mnt/user-data/uploads/179239182301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29215"/>
            <a:ext cx="2057400" cy="115325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" y="18288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DD3FC"/>
                </a:solidFill>
              </a:rPr>
              <a:t>CYBERSECURITY  ·  NLP  ·  MACHINE LEARNING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1488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ThreatLens</a:t>
            </a:r>
            <a:endParaRPr lang="en-US" sz="48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2926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7DD3FC"/>
                </a:solidFill>
              </a:rPr>
              <a:t>See Beyond the Threat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34290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An NLP-Powered Cyber Threat Intelligence Assistant and Investigation Workbench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</a:rPr>
              <a:t>Team Members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45720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G Sai Nikhil  ·  23MID0194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Saravanan B  ·  23MID0180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Kamesh Y  ·  23MID0147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327648" y="1024128"/>
            <a:ext cx="5541264" cy="3023616"/>
          </a:xfrm>
          <a:prstGeom prst="roundRect">
            <a:avLst>
              <a:gd name="adj" fmla="val 18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64748B">
                <a:alpha val="30000"/>
              </a:srgbClr>
            </a:outerShdw>
          </a:effectLst>
        </p:spPr>
      </p:sp>
      <p:pic>
        <p:nvPicPr>
          <p:cNvPr id="23" name="Image 1" descr="/mnt/user-data/uploads/1792391628460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097280"/>
            <a:ext cx="5394960" cy="287731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400800" y="42519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Actual ThreatLens Operational Overview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6400800" y="46634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Unstructured threat text becomes structured, explainable and actionable intelligence for SOC analysts, incident response teams and security researchers.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The Challenge of Modern Cyber Threat Intelligence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Advisories, incident reports and suspicious emails arrive as unstructured text. Manually extracting indicators, identifying techniques, scoring severity and writing reports is slow and error-prone.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2075688"/>
            <a:ext cx="54864" cy="21122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0756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1. Unstructured Threat Data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46888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Many different formats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Indicators hidden in long reports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Obfuscated URLs and domains complicate extraction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Sources: advisories, emails, incident reports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70248" y="196596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70248" y="2075688"/>
            <a:ext cx="54864" cy="21122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98848" y="20756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2. Manual Investigation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498848" y="246888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Analysts identify and classify by hand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Severity needs several pieces of evidence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Reporting slows incident response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Same work repeated for every incident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83296" y="196596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83296" y="2075688"/>
            <a:ext cx="54864" cy="21122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11896" y="20756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</a:rPr>
              <a:t>3. Limited Explainability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311896" y="246888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Results need supporting evidence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Teams must see why a severity was assigned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Uncertain predictions are not confirmed findings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A confidence score is not proof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</a:rPr>
              <a:t>Project Objectives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4846320"/>
            <a:ext cx="204459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" y="4846320"/>
            <a:ext cx="19531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Automate indicator extraction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2501798" y="484632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</a:rPr>
              <a:t>›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2757830" y="4846320"/>
            <a:ext cx="204459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803550" y="4846320"/>
            <a:ext cx="19531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Supervised ML threat classification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802429" y="484632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</a:rPr>
              <a:t>›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058461" y="4846320"/>
            <a:ext cx="204459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104181" y="4846320"/>
            <a:ext cx="19531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Transparent severity assessment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103059" y="484632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</a:rPr>
              <a:t>›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7359091" y="4846320"/>
            <a:ext cx="204459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04811" y="4846320"/>
            <a:ext cx="19531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Correlate with MITRE ATT&amp;CK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403690" y="484632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</a:rPr>
              <a:t>›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9659722" y="4846320"/>
            <a:ext cx="204459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705442" y="4846320"/>
            <a:ext cx="19531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Structured intelligence reports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57200" y="6199632"/>
            <a:ext cx="11247120" cy="384048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94360" y="61996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563EB"/>
                </a:solidFill>
              </a:rPr>
              <a:t>Key message: ThreatLens aims to reduce repetitive manual investigation while improving consistency and explainability of triage.</a:t>
            </a:r>
            <a:endParaRPr lang="en-US" sz="12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ThreatLens: From Raw Intelligence to Actionable Insights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23444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344168"/>
            <a:ext cx="54864" cy="11521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344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A — Text Analysis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7373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Paste reports, emails, advisories, narratives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Fast triage of a single report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70248" y="123444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70248" y="1344168"/>
            <a:ext cx="54864" cy="11521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98848" y="1344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</a:rPr>
              <a:t>B — Document Upload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498848" y="17373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TXT, CSV, JSON or PDF text extraction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Files are never executed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83296" y="123444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083296" y="1344168"/>
            <a:ext cx="54864" cy="11521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11896" y="1344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C — Direct Indicator Query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311896" y="17373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IPv4, domain, URL, hash, CVE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Quick lookup of one indicator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834640"/>
            <a:ext cx="138727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2920" y="2834640"/>
            <a:ext cx="12958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Threat Input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1844475" y="28346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›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2100507" y="2834640"/>
            <a:ext cx="138727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146227" y="2834640"/>
            <a:ext cx="12958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Text Preprocessing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3487783" y="28346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›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3743815" y="2834640"/>
            <a:ext cx="138727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789535" y="2834640"/>
            <a:ext cx="12958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IOC Extraction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5131090" y="28346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›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387122" y="2834640"/>
            <a:ext cx="138727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32842" y="2834640"/>
            <a:ext cx="12958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NLP + ML Analysis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6774398" y="28346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›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7030430" y="2834640"/>
            <a:ext cx="138727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076150" y="2834640"/>
            <a:ext cx="12958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Severity Assessment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417705" y="28346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›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8673737" y="2834640"/>
            <a:ext cx="138727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719457" y="2834640"/>
            <a:ext cx="12958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MITRE ATT&amp;CK Mapping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0061013" y="283464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›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10317045" y="2834640"/>
            <a:ext cx="138727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0362765" y="2834640"/>
            <a:ext cx="12958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Intelligence Report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1 Normalize text, recognize defanged indicators · 2 Extract indicators with evidence context · 3 Classify with machine learning · 4 Rule-based severity score · 5 Map evidence to ATT&amp;CK techniques · 6 Present in the investigation dashboard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45720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</a:rPr>
              <a:t>Outputs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457200" y="4892040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57200" y="4892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Extracted indicators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2350008" y="4892040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2350008" y="4892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Category + confidence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242816" y="4892040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242816" y="4892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Severity + triggered rules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135624" y="4892040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135624" y="4892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ATT&amp;CK mappings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8028432" y="4892040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28432" y="4892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Containment advice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9921240" y="4892040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9921240" y="4892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Exportable reports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457200" y="6199632"/>
            <a:ext cx="11247120" cy="384048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94360" y="61996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563EB"/>
                </a:solidFill>
              </a:rPr>
              <a:t>Key message: Multiple analytical stages unified in one threat investigation workflow.</a:t>
            </a:r>
            <a:endParaRPr lang="en-US" sz="12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Modular Architecture of ThreatLens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234440"/>
            <a:ext cx="8503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344168"/>
            <a:ext cx="54864" cy="7863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34416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Layer 1 · Frontend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916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19 · TypeScript · Vite · Tailwind CSS · Lucide React · Recharts · React Router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9659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User interaction, analysis forms, dashboard visualization, investigation navigation, report presentation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22219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563EB"/>
                </a:solidFill>
              </a:rPr>
              <a:t>↕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377440"/>
            <a:ext cx="8503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487168"/>
            <a:ext cx="54864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248716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</a:rPr>
              <a:t>Layer 2 · API &amp; Backend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28346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· FastAPI · Uvicorn · Pydantic v2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1089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API request handling, input validation, coordinating analysis services and frontend-to-engine communication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33649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563EB"/>
                </a:solidFill>
              </a:rPr>
              <a:t>↕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520440"/>
            <a:ext cx="8503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3630168"/>
            <a:ext cx="54864" cy="7863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363016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Layer 3 · Intelligence &amp; ML Engine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39776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Preprocessor · IOC extractor · spaCy · Classifier · Severity engine · ATT&amp;CK mapper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42519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Preprocessing, IOC extraction, entity processing, classification, severity scoring and technique mapping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480560" y="45079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563EB"/>
                </a:solidFill>
              </a:rPr>
              <a:t>↕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4663440"/>
            <a:ext cx="8503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" y="4773168"/>
            <a:ext cx="54864" cy="7863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477316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</a:rPr>
              <a:t>Layer 4 · Data &amp; Persistence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51206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SQLAlchemy 2.0 · SQLite (dev) · PostgreSQL migration path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685800" y="53949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Structured persistence of investigation records and indicators through SQLAlchemy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9235440" y="123444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9235440" y="1344168"/>
            <a:ext cx="54864" cy="17007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13441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</a:rPr>
              <a:t>External Sources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464040" y="173736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CISA KEV catalog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Linked from backend where used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923544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← Backend ↔ external intel (optional)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9235440" y="3931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React ↔ FastAPI ↔ Analytical services ↔ Database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57200" y="6199632"/>
            <a:ext cx="11247120" cy="384048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94360" y="61996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563EB"/>
                </a:solidFill>
              </a:rPr>
              <a:t>Key message: The UI, API, analytical engines and storage are cleanly separated.</a:t>
            </a:r>
            <a:endParaRPr lang="en-US" sz="12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Intelligent IOC Extraction and Safe Indicator Handling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234440"/>
            <a:ext cx="1280160" cy="36576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234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IPv4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874520" y="1234440"/>
            <a:ext cx="1280160" cy="365760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874520" y="1234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Domain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234440"/>
            <a:ext cx="1280160" cy="36576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91840" y="1234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URL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1234440"/>
            <a:ext cx="1280160" cy="365760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09160" y="1234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Email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1234440"/>
            <a:ext cx="1280160" cy="36576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26480" y="1234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MD5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543800" y="1234440"/>
            <a:ext cx="1280160" cy="365760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543800" y="1234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SHA-1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961120" y="1234440"/>
            <a:ext cx="1280160" cy="36576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961120" y="1234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SHA-256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378440" y="1234440"/>
            <a:ext cx="1280160" cy="365760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378440" y="1234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CVE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6766560" cy="208483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Input Example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Purpose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IPv4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192[.]0[.]2[.]1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Network indicator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URL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hxxps://example[.]org/login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Suspicious URL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Email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analyst[at]example[.]com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Email indicator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Hash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SHA-256 digest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File identification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CVE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CVE-2024-1234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Vulnerability reference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7516368" y="1755648"/>
            <a:ext cx="4169664" cy="2302445"/>
          </a:xfrm>
          <a:prstGeom prst="roundRect">
            <a:avLst>
              <a:gd name="adj" fmla="val 2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64748B">
                <a:alpha val="30000"/>
              </a:srgbClr>
            </a:outerShdw>
          </a:effectLst>
        </p:spPr>
      </p:sp>
      <p:pic>
        <p:nvPicPr>
          <p:cNvPr id="23" name="Image 0" descr="/mnt/user-data/uploads/179239165608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828800"/>
            <a:ext cx="4023360" cy="2156141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589520" y="4094669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Real Analyze Threat screen: defanged IOCs with types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57200" y="411480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57200" y="4224528"/>
            <a:ext cx="54864" cy="15636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85800" y="42245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Evidence Tracking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685800" y="46177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Character start / end offsets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Supporting text snippets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Normalized value + safe display form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Refang for analysis, defanged display in UI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217920" y="411480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217920" y="4224528"/>
            <a:ext cx="54864" cy="1563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446520" y="42245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</a:rPr>
              <a:t>Document Safety: TXT · CSV · JSON · PDF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6446520" y="46177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Digital text extraction only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No execution of scripts, macros or binaries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Untrusted input validated before analysis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457200" y="6199632"/>
            <a:ext cx="11247120" cy="384048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594360" y="61996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563EB"/>
                </a:solidFill>
              </a:rPr>
              <a:t>Key message: Indicators are extracted with evidence context while reducing accidental interaction with malicious links.</a:t>
            </a:r>
            <a:endParaRPr lang="en-US" sz="12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Supervised Machine Learning for Threat Classification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234440"/>
            <a:ext cx="1661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1234440"/>
            <a:ext cx="156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Threat Text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2118360" y="123444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›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374392" y="1234440"/>
            <a:ext cx="1661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20112" y="1234440"/>
            <a:ext cx="156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Preprocessing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035552" y="123444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›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291584" y="1234440"/>
            <a:ext cx="1661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337304" y="1234440"/>
            <a:ext cx="156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TF-IDF Vectorization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952744" y="123444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›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08776" y="1234440"/>
            <a:ext cx="1661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54496" y="1234440"/>
            <a:ext cx="156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Unigram + Bigram Features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869936" y="123444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›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125968" y="1234440"/>
            <a:ext cx="1661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71688" y="1234440"/>
            <a:ext cx="156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Classifier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9787128" y="123444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›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0043160" y="1234440"/>
            <a:ext cx="1661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088880" y="1234440"/>
            <a:ext cx="1569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</a:rPr>
              <a:t>Predicted Category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21031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TF-IDF converts text to numeric features · unigrams = single terms · bigrams capture phrases like "remote code execution" · sublinear TF scaling dampens repeated terms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57200" y="2697480"/>
            <a:ext cx="2697480" cy="329184"/>
          </a:xfrm>
          <a:prstGeom prst="roundRect">
            <a:avLst>
              <a:gd name="adj" fmla="val 2777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200" y="269748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Phishing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91840" y="2697480"/>
            <a:ext cx="2697480" cy="329184"/>
          </a:xfrm>
          <a:prstGeom prst="roundRect">
            <a:avLst>
              <a:gd name="adj" fmla="val 2777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291840" y="269748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Malware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126480" y="2697480"/>
            <a:ext cx="2697480" cy="329184"/>
          </a:xfrm>
          <a:prstGeom prst="roundRect">
            <a:avLst>
              <a:gd name="adj" fmla="val 2777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126480" y="269748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Ransomware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961120" y="2697480"/>
            <a:ext cx="2697480" cy="329184"/>
          </a:xfrm>
          <a:prstGeom prst="roundRect">
            <a:avLst>
              <a:gd name="adj" fmla="val 2777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961120" y="269748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Credential Theft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3108960"/>
            <a:ext cx="2697480" cy="329184"/>
          </a:xfrm>
          <a:prstGeom prst="roundRect">
            <a:avLst>
              <a:gd name="adj" fmla="val 2777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57200" y="31089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Denial of Service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291840" y="3108960"/>
            <a:ext cx="2697480" cy="329184"/>
          </a:xfrm>
          <a:prstGeom prst="roundRect">
            <a:avLst>
              <a:gd name="adj" fmla="val 2777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291840" y="31089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Web App Attack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126480" y="3108960"/>
            <a:ext cx="2697480" cy="329184"/>
          </a:xfrm>
          <a:prstGeom prst="roundRect">
            <a:avLst>
              <a:gd name="adj" fmla="val 2777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126480" y="31089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Vulnerability Exploitation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961120" y="3108960"/>
            <a:ext cx="2697480" cy="329184"/>
          </a:xfrm>
          <a:prstGeom prst="roundRect">
            <a:avLst>
              <a:gd name="adj" fmla="val 2777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961120" y="31089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Data Exfiltration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3520440"/>
            <a:ext cx="2697480" cy="329184"/>
          </a:xfrm>
          <a:prstGeom prst="roundRect">
            <a:avLst>
              <a:gd name="adj" fmla="val 2777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57200" y="352044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Reconnaissance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3291840" y="3520440"/>
            <a:ext cx="2697480" cy="329184"/>
          </a:xfrm>
          <a:prstGeom prst="roundRect">
            <a:avLst>
              <a:gd name="adj" fmla="val 2777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291840" y="352044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Benign/Informational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126480" y="3520440"/>
            <a:ext cx="2697480" cy="329184"/>
          </a:xfrm>
          <a:prstGeom prst="roundRect">
            <a:avLst>
              <a:gd name="adj" fmla="val 2777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126480" y="352044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Other/Unknown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457200" y="406908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457200" y="4178808"/>
            <a:ext cx="54864" cy="15636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85800" y="4178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Logistic Regression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685800" y="45720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Baseline classifier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Class probability estimates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Regularization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Interpretable linear model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4663440" y="406908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4663440" y="4178808"/>
            <a:ext cx="54864" cy="1563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4892040" y="4178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</a:rPr>
              <a:t>LinearSVC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4892040" y="45720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Linear Support Vector Classifier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Learns separating hyperplanes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Suits sparse, high-dimensional text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Compared against Logistic Regression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8869680" y="4069080"/>
            <a:ext cx="2834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8869680" y="4178808"/>
            <a:ext cx="54864" cy="1563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098280" y="4178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Uncertainty Review</a:t>
            </a:r>
            <a:endParaRPr lang="en-US" sz="1400" dirty="0"/>
          </a:p>
        </p:txBody>
      </p:sp>
      <p:sp>
        <p:nvSpPr>
          <p:cNvPr id="56" name="Text 53"/>
          <p:cNvSpPr txBox="1"/>
          <p:nvPr/>
        </p:nvSpPr>
        <p:spPr>
          <a:xfrm>
            <a:off x="9098280" y="45720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Confidence / margin thresholds flag ambiguous predictions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Confidence is not a guarantee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457200" y="6199632"/>
            <a:ext cx="11247120" cy="384048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594360" y="61996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563EB"/>
                </a:solidFill>
              </a:rPr>
              <a:t>Key message: Supervised classification plus explicit uncertainty flags support, not replace, analyst judgment.</a:t>
            </a:r>
            <a:endParaRPr lang="en-US" sz="12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Explainable Risk Assessment and Adversary Technique Mapping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A · Severity: weighted heuristic, score 0–10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1024128" cy="4572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55448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Crit. 9+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554480" y="1554480"/>
            <a:ext cx="1024128" cy="4572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554480" y="155448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High 7–8.9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51760" y="1554480"/>
            <a:ext cx="1024128" cy="4572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51760" y="155448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Med 4–6.9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49040" y="1554480"/>
            <a:ext cx="1024128" cy="4572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49040" y="155448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Low 1–3.9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46320" y="1554480"/>
            <a:ext cx="1024128" cy="45720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46320" y="155448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Info &lt;1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5394960" cy="2084832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Example rule (illustrative)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Weight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Mass encryption / shadow copy deletion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+5.0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Active zero-day / RCE exploitation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+4.0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Credential dumping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+3.5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Exfiltration / C2 beaconing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+2.5 to +3.0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Routine scanning / benign hygiene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-2.0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457200" y="43891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Every score lists the rules that triggered it and can disclose missing telemetry or context, so analysts can challenge the result. Scores are triage aids, not verdicts.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630936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B · MITRE ATT&amp;CK Enterprise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309360" y="1554480"/>
            <a:ext cx="685800" cy="73152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355080" y="155448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Initial Access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995160" y="155448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</a:rPr>
              <a:t>›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7251192" y="1554480"/>
            <a:ext cx="685800" cy="73152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296912" y="155448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Exec.</a:t>
            </a:r>
            <a:endParaRPr lang="en-US" sz="800" dirty="0"/>
          </a:p>
        </p:txBody>
      </p:sp>
      <p:sp>
        <p:nvSpPr>
          <p:cNvPr id="24" name="Text 20"/>
          <p:cNvSpPr txBox="1"/>
          <p:nvPr/>
        </p:nvSpPr>
        <p:spPr>
          <a:xfrm>
            <a:off x="7936992" y="155448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</a:rPr>
              <a:t>›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193024" y="1554480"/>
            <a:ext cx="685800" cy="73152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238744" y="155448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Persist.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8878824" y="155448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</a:rPr>
              <a:t>›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9134856" y="1554480"/>
            <a:ext cx="685800" cy="73152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9180576" y="155448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Cred. Access</a:t>
            </a:r>
            <a:endParaRPr lang="en-US" sz="800" dirty="0"/>
          </a:p>
        </p:txBody>
      </p:sp>
      <p:sp>
        <p:nvSpPr>
          <p:cNvPr id="30" name="Text 26"/>
          <p:cNvSpPr txBox="1"/>
          <p:nvPr/>
        </p:nvSpPr>
        <p:spPr>
          <a:xfrm>
            <a:off x="9820656" y="155448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</a:rPr>
              <a:t>›</a:t>
            </a:r>
            <a:endParaRPr lang="en-US" sz="1800" dirty="0"/>
          </a:p>
        </p:txBody>
      </p:sp>
      <p:sp>
        <p:nvSpPr>
          <p:cNvPr id="31" name="Shape 27"/>
          <p:cNvSpPr/>
          <p:nvPr/>
        </p:nvSpPr>
        <p:spPr>
          <a:xfrm>
            <a:off x="10076688" y="1554480"/>
            <a:ext cx="685800" cy="73152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0122408" y="155448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Exfil.</a:t>
            </a:r>
            <a:endParaRPr lang="en-US" sz="800" dirty="0"/>
          </a:p>
        </p:txBody>
      </p:sp>
      <p:sp>
        <p:nvSpPr>
          <p:cNvPr id="33" name="Text 29"/>
          <p:cNvSpPr txBox="1"/>
          <p:nvPr/>
        </p:nvSpPr>
        <p:spPr>
          <a:xfrm>
            <a:off x="10762488" y="155448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</a:rPr>
              <a:t>›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11018520" y="1554480"/>
            <a:ext cx="685800" cy="73152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1064240" y="155448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</a:rPr>
              <a:t>Impact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6309360" y="2514600"/>
            <a:ext cx="868680" cy="329184"/>
          </a:xfrm>
          <a:prstGeom prst="roundRect">
            <a:avLst>
              <a:gd name="adj" fmla="val 2777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309360" y="25146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T1566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7315200" y="25146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Phishing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6309360" y="2971800"/>
            <a:ext cx="868680" cy="329184"/>
          </a:xfrm>
          <a:prstGeom prst="roundRect">
            <a:avLst>
              <a:gd name="adj" fmla="val 2777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309360" y="29718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T1059</a:t>
            </a:r>
            <a:endParaRPr lang="en-US" sz="1100" dirty="0"/>
          </a:p>
        </p:txBody>
      </p:sp>
      <p:sp>
        <p:nvSpPr>
          <p:cNvPr id="41" name="Text 37"/>
          <p:cNvSpPr txBox="1"/>
          <p:nvPr/>
        </p:nvSpPr>
        <p:spPr>
          <a:xfrm>
            <a:off x="7315200" y="29718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Command and Scripting Interpreter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6309360" y="3429000"/>
            <a:ext cx="868680" cy="329184"/>
          </a:xfrm>
          <a:prstGeom prst="roundRect">
            <a:avLst>
              <a:gd name="adj" fmla="val 2777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309360" y="34290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T1003</a:t>
            </a:r>
            <a:endParaRPr lang="en-US" sz="1100" dirty="0"/>
          </a:p>
        </p:txBody>
      </p:sp>
      <p:sp>
        <p:nvSpPr>
          <p:cNvPr id="44" name="Text 40"/>
          <p:cNvSpPr txBox="1"/>
          <p:nvPr/>
        </p:nvSpPr>
        <p:spPr>
          <a:xfrm>
            <a:off x="7315200" y="34290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OS Credential Dumping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6309360" y="3886200"/>
            <a:ext cx="868680" cy="329184"/>
          </a:xfrm>
          <a:prstGeom prst="roundRect">
            <a:avLst>
              <a:gd name="adj" fmla="val 2777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6309360" y="3886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T1486</a:t>
            </a:r>
            <a:endParaRPr lang="en-US" sz="1100" dirty="0"/>
          </a:p>
        </p:txBody>
      </p:sp>
      <p:sp>
        <p:nvSpPr>
          <p:cNvPr id="47" name="Text 43"/>
          <p:cNvSpPr txBox="1"/>
          <p:nvPr/>
        </p:nvSpPr>
        <p:spPr>
          <a:xfrm>
            <a:off x="7315200" y="38862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Data Encrypted for Impact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6309360" y="44348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6309360" y="4544568"/>
            <a:ext cx="54864" cy="1197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6537960" y="45445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Evidence snippet (illustrative)</a:t>
            </a:r>
            <a:endParaRPr lang="en-US" sz="1400" dirty="0"/>
          </a:p>
        </p:txBody>
      </p:sp>
      <p:sp>
        <p:nvSpPr>
          <p:cNvPr id="51" name="Text 47"/>
          <p:cNvSpPr txBox="1"/>
          <p:nvPr/>
        </p:nvSpPr>
        <p:spPr>
          <a:xfrm>
            <a:off x="6537960" y="49377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"…files encrypted, shadow copies deleted…" → T1486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Mapping needs analyst validation</a:t>
            </a:r>
            <a:endParaRPr lang="en-US" sz="1150" dirty="0"/>
          </a:p>
        </p:txBody>
      </p:sp>
      <p:sp>
        <p:nvSpPr>
          <p:cNvPr id="52" name="Shape 48"/>
          <p:cNvSpPr/>
          <p:nvPr/>
        </p:nvSpPr>
        <p:spPr>
          <a:xfrm>
            <a:off x="457200" y="6199632"/>
            <a:ext cx="11247120" cy="384048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594360" y="61996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563EB"/>
                </a:solidFill>
              </a:rPr>
              <a:t>Key message: ThreatLens explains why an incident gets its priority and links evidence to standard adversary behavior.</a:t>
            </a:r>
            <a:endParaRPr lang="en-US" sz="1200" dirty="0"/>
          </a:p>
        </p:txBody>
      </p:sp>
      <p:sp>
        <p:nvSpPr>
          <p:cNvPr id="1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Investigation Dashboard and Academic Evaluation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84048" y="1207008"/>
            <a:ext cx="6181344" cy="3465908"/>
          </a:xfrm>
          <a:prstGeom prst="roundRect">
            <a:avLst>
              <a:gd name="adj" fmla="val 15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64748B">
                <a:alpha val="30000"/>
              </a:srgbClr>
            </a:outerShdw>
          </a:effectLst>
        </p:spPr>
      </p:sp>
      <p:pic>
        <p:nvPicPr>
          <p:cNvPr id="6" name="Image 0" descr="/mnt/user-data/uploads/1792391702522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035040" cy="331960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709492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Real Model Evaluation screen (TF-IDF, stratified hold-out split)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6858000" y="1188720"/>
            <a:ext cx="4846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858000" y="1298448"/>
            <a:ext cx="54864" cy="17922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086600" y="12984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</a:rPr>
              <a:t>Measured Results (Logistic Regression)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086600" y="169164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Accuracy: 41.2%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Macro-Precision: 40.9%   ·   Macro-Recall: 50.0%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Macro-F1: 41.5% (primary metric)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LinearSVC: same values on this split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858000" y="33375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858000" y="3447288"/>
            <a:ext cx="54864" cy="15636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086600" y="34472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Methodology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086600" y="38404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Stratified 80/20 split, random seed 42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TF-IDF fitted on training data only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Per-class precision / recall and confusion matrix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858000" y="525780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0" y="5367528"/>
            <a:ext cx="54864" cy="6035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086600" y="53675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Note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7086600" y="56235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Very small per-class test support (1-2 samples): treat as an initial baseline and expand the dataset.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54406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Reports export as JSON, Markdown and CSV (10-section structure)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57200" y="5760720"/>
            <a:ext cx="1143000" cy="329184"/>
          </a:xfrm>
          <a:prstGeom prst="roundRect">
            <a:avLst>
              <a:gd name="adj" fmla="val 2777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57200" y="576072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JSON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1737360" y="5760720"/>
            <a:ext cx="1143000" cy="329184"/>
          </a:xfrm>
          <a:prstGeom prst="roundRect">
            <a:avLst>
              <a:gd name="adj" fmla="val 2777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737360" y="576072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Markdown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017520" y="5760720"/>
            <a:ext cx="1143000" cy="329184"/>
          </a:xfrm>
          <a:prstGeom prst="roundRect">
            <a:avLst>
              <a:gd name="adj" fmla="val 2777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3017520" y="576072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CSV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57200" y="6199632"/>
            <a:ext cx="11247120" cy="384048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94360" y="61996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563EB"/>
                </a:solidFill>
              </a:rPr>
              <a:t>Key message: Visualization, measurable evaluation and structured reporting in one workbench.</a:t>
            </a:r>
            <a:endParaRPr lang="en-US" sz="12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Practical Use Cases and Security Engineering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298448"/>
            <a:ext cx="54864" cy="18836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98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</a:rPr>
              <a:t>Ransomware Investigation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9164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Input: encryption + shadow copy deletion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Extract IOCs, evaluate severity rules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Correlate with T1486 where appropriate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Report + containment advice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70248" y="118872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70248" y="1298448"/>
            <a:ext cx="54864" cy="18836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98848" y="1298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Vulnerability Advisory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498848" y="169164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Input: CVEs + defanged URLs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Extract and normalize indicators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Identify vulnerability category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Evidence-backed findings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83296" y="118872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083296" y="1298448"/>
            <a:ext cx="54864" cy="18836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11896" y="1298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Ambiguous Narrative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311896" y="169164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Input: partial recon/phishing evidence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Classify, flag uncertainty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Disclose missing context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Recommend further investigation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3474720"/>
            <a:ext cx="63093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3584448"/>
            <a:ext cx="54864" cy="23865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35844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</a:rPr>
              <a:t>Security Controls and Testing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397764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Safe document parsing; no execution of uploads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Pydantic validation of untrusted input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Defanged indicator display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Strict API CORS; frontend/backend separation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Structured database access (SQLAlchemy)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Tests: IOC extraction, refang/defang, parsing, severity, API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Controls reduce risk; hardening still needed for production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059168" y="3493008"/>
            <a:ext cx="4718304" cy="2207621"/>
          </a:xfrm>
          <a:prstGeom prst="roundRect">
            <a:avLst>
              <a:gd name="adj" fmla="val 24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64748B">
                <a:alpha val="30000"/>
              </a:srgbClr>
            </a:outerShdw>
          </a:effectLst>
        </p:spPr>
      </p:sp>
      <p:pic>
        <p:nvPicPr>
          <p:cNvPr id="22" name="Image 0" descr="/mnt/user-data/uploads/179239167289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566160"/>
            <a:ext cx="4572000" cy="2061317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132320" y="5737205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Real Analysis History: saved investigations in SQLite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57200" y="6199632"/>
            <a:ext cx="11247120" cy="384048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94360" y="61996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563EB"/>
                </a:solidFill>
              </a:rPr>
              <a:t>Key message: Practical investigations supported by safety-oriented processing and validation.</a:t>
            </a:r>
            <a:endParaRPr lang="en-US" sz="12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ThreatLens — Turning Threat Data into Defensive Intelligence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56692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298448"/>
            <a:ext cx="54864" cy="3072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984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</a:rPr>
              <a:t>Key Contributions (implemented)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691640"/>
            <a:ext cx="5303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Multi-format ingestion (TXT, CSV, JSON, PDF)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IOC extraction with safe display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11-category supervised classification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Explainable severity assessment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MITRE ATT&amp;CK correlation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Evaluation + confusion matrix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Structured reports and exports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</a:rPr>
              <a:t>CISA KEV catalog integration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1188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Future Enhancements (not yet implemented)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0" y="1554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Phase 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543800" y="15087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STIX 2.1 / TAXII 2.1 sharing; integration with platforms such as OpenCTI and MISP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0" y="2532888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25328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Phase 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543800" y="2487168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Investigate local LLMs for narrative summarization, keeping analyst verification and privacy-conscious processing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0" y="3511296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0" y="35112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</a:rPr>
              <a:t>Phase 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543800" y="3465576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SIEM/SOAR integration and controlled response workflows; require authorization, audit logging and confirmation before disruptive actions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663440"/>
            <a:ext cx="1124712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4663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293B"/>
                </a:solidFill>
              </a:rPr>
              <a:t>“ThreatLens transforms unstructured cyber threat information into structured, explainable, and actionable intelligence—helping security analysts investigate threats with greater consistency and clarity.”</a:t>
            </a:r>
            <a:endParaRPr lang="en-US" sz="1350" dirty="0"/>
          </a:p>
        </p:txBody>
      </p:sp>
      <p:pic>
        <p:nvPicPr>
          <p:cNvPr id="23" name="Image 0" descr="/mnt/user-data/uploads/179239182807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5577840"/>
            <a:ext cx="777240" cy="7680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863751-6C18-CD55-704F-89854BDDC835}"/>
              </a:ext>
            </a:extLst>
          </p:cNvPr>
          <p:cNvSpPr txBox="1"/>
          <p:nvPr/>
        </p:nvSpPr>
        <p:spPr>
          <a:xfrm>
            <a:off x="3273496" y="2294021"/>
            <a:ext cx="580081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dirty="0"/>
              <a:t>THANK YOU</a:t>
            </a:r>
            <a:endParaRPr lang="en-IN" sz="8800" b="1" dirty="0"/>
          </a:p>
        </p:txBody>
      </p:sp>
    </p:spTree>
    <p:extLst>
      <p:ext uri="{BB962C8B-B14F-4D97-AF65-F5344CB8AC3E}">
        <p14:creationId xmlns:p14="http://schemas.microsoft.com/office/powerpoint/2010/main" val="3143112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1661</Words>
  <Application>Microsoft Office PowerPoint</Application>
  <PresentationFormat>Widescreen</PresentationFormat>
  <Paragraphs>304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Consolas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ThreatLens</dc:title>
  <dc:subject>PptxGenJS Presentation</dc:subject>
  <dc:creator>PptxGenJS</dc:creator>
  <cp:lastModifiedBy>Gandrakota Sai Nikhil Viswa Dattatraya Sarma</cp:lastModifiedBy>
  <cp:revision>2</cp:revision>
  <dcterms:created xsi:type="dcterms:W3CDTF">2026-10-19T06:43:57Z</dcterms:created>
  <dcterms:modified xsi:type="dcterms:W3CDTF">2026-10-19T06:50:14Z</dcterms:modified>
</cp:coreProperties>
</file>